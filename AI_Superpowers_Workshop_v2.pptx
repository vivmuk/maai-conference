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67EE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64592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37760"/>
            <a:ext cx="9144000" cy="0"/>
          </a:xfrm>
          <a:prstGeom prst="line">
            <a:avLst/>
          </a:prstGeom>
          <a:noFill/>
          <a:ln w="3810">
            <a:solidFill>
              <a:srgbClr val="00F5FF">
                <a:alpha val="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972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AI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1828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</a:t>
            </a:r>
            <a:endParaRPr lang="en-US" sz="52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743200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800" kern="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Affairs AI Training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 Mastery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7315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97880" y="822960"/>
            <a:ext cx="640080" cy="64008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989320" y="914400"/>
            <a:ext cx="457200" cy="45720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7315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822960"/>
            <a:ext cx="640080" cy="640080"/>
          </a:xfrm>
          <a:prstGeom prst="ellipse">
            <a:avLst/>
          </a:prstGeom>
          <a:solidFill>
            <a:srgbClr val="00FFA3">
              <a:alpha val="3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955280" y="914400"/>
            <a:ext cx="457200" cy="45720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948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6948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303520" y="23317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423160"/>
            <a:ext cx="640080" cy="640080"/>
          </a:xfrm>
          <a:prstGeom prst="ellipse">
            <a:avLst/>
          </a:prstGeom>
          <a:solidFill>
            <a:srgbClr val="BF40FF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89320" y="2514600"/>
            <a:ext cx="457200" cy="457200"/>
          </a:xfrm>
          <a:prstGeom prst="ellipse">
            <a:avLst/>
          </a:prstGeom>
          <a:solidFill>
            <a:srgbClr val="BF40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269480" y="233172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63840" y="2423160"/>
            <a:ext cx="640080" cy="64008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955280" y="2514600"/>
            <a:ext cx="457200" cy="4572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6948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2694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TRUST BY TESTING THE LIMITS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07008"/>
            <a:ext cx="365760" cy="365760"/>
          </a:xfrm>
          <a:prstGeom prst="rect">
            <a:avLst>
              <a:gd name="adj" fmla="val 12500"/>
            </a:avLst>
          </a:prstGeom>
          <a:solidFill>
            <a:srgbClr val="00F5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07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126187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something cool in AI - Live demo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865376"/>
            <a:ext cx="365760" cy="365760"/>
          </a:xfrm>
          <a:prstGeom prst="rect">
            <a:avLst>
              <a:gd name="adj" fmla="val 12500"/>
            </a:avLst>
          </a:prstGeom>
          <a:solidFill>
            <a:srgbClr val="BF40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1892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Outcomes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0" y="1920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learn today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523744"/>
            <a:ext cx="365760" cy="365760"/>
          </a:xfrm>
          <a:prstGeom prst="rect">
            <a:avLst>
              <a:gd name="adj" fmla="val 12500"/>
            </a:avLst>
          </a:prstGeom>
          <a:solidFill>
            <a:srgbClr val="00FFA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523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551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 Check-in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0" y="257860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usage poll &amp; coolest use cases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72384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82112"/>
            <a:ext cx="365760" cy="365760"/>
          </a:xfrm>
          <a:prstGeom prst="rect">
            <a:avLst>
              <a:gd name="adj" fmla="val 12500"/>
            </a:avLst>
          </a:prstGeom>
          <a:solidFill>
            <a:srgbClr val="FFD93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82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20954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 Superpowers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32369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use cases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30752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40480"/>
            <a:ext cx="365760" cy="365760"/>
          </a:xfrm>
          <a:prstGeom prst="rect">
            <a:avLst>
              <a:gd name="adj" fmla="val 12500"/>
            </a:avLst>
          </a:prstGeom>
          <a:solidFill>
            <a:srgbClr val="BF40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8679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Talk to AI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14800" y="38953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prompting framework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498848"/>
            <a:ext cx="365760" cy="365760"/>
          </a:xfrm>
          <a:prstGeom prst="rect">
            <a:avLst>
              <a:gd name="adj" fmla="val 12500"/>
            </a:avLst>
          </a:prstGeom>
          <a:solidFill>
            <a:srgbClr val="FF6B6B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498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Workshop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114800" y="45537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 per superpower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5047488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157216"/>
            <a:ext cx="365760" cy="365760"/>
          </a:xfrm>
          <a:prstGeom prst="rect">
            <a:avLst>
              <a:gd name="adj" fmla="val 12500"/>
            </a:avLst>
          </a:prstGeom>
          <a:solidFill>
            <a:srgbClr val="00F5FF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5157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97280" y="51846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114800" y="5212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67EE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00F5FF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⚡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ICEBREAKER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Something Cool in AI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2651760"/>
            <a:ext cx="6400800" cy="1645920"/>
          </a:xfrm>
          <a:prstGeom prst="roundRect">
            <a:avLst>
              <a:gd name="adj" fmla="val 5556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788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🎬 LIVE DEMO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31546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an infographic from a research paper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566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it generates, we'll explore: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What AI can and can't 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Building AI intuition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The importance of context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OUTCOMES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session, you will: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45720"/>
          </a:xfrm>
          <a:prstGeom prst="rect">
            <a:avLst/>
          </a:prstGeom>
          <a:solidFill>
            <a:srgbClr val="BF40FF"/>
          </a:solidFill>
          <a:ln w="12700">
            <a:solidFill>
              <a:srgbClr val="BF4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🗣️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how to talk to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CRAFT prompting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9728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when to reach for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4 AI Superpowers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86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with real Medical Affairs scenarios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4173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12080" y="15544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expectations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12080" y="18745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what AI can and can't 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42316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212080" y="2560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AI intuition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2880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iterate and improve outputs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42900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212080" y="3566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context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12080" y="3886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AI what it needs to succeed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67EE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📊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18872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SLIDO CHECK-IN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4572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here uses AI weekly?"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45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 to Sarah's poll on AI usage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240280"/>
            <a:ext cx="411480" cy="41148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 still feels unsure if they're doing it 'right'?"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029200" cy="777240"/>
          </a:xfrm>
          <a:prstGeom prst="roundRect">
            <a:avLst>
              <a:gd name="adj" fmla="val 1176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00FFA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is your coolest use case?"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118872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6459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📱</a:t>
            </a:r>
            <a:endParaRPr lang="en-US" sz="5000" dirty="0"/>
          </a:p>
        </p:txBody>
      </p:sp>
      <p:sp>
        <p:nvSpPr>
          <p:cNvPr id="21" name="Text 19"/>
          <p:cNvSpPr/>
          <p:nvPr/>
        </p:nvSpPr>
        <p:spPr>
          <a:xfrm>
            <a:off x="603504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JOIN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3504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4 AI SUPERPOWERS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2743200" cy="457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00D4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" y="1051560"/>
            <a:ext cx="731520" cy="73152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" y="1143000"/>
            <a:ext cx="548640" cy="54864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01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292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Brainstorm, expand options, reframe problems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00FFA3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7540" y="1051560"/>
            <a:ext cx="731520" cy="731520"/>
          </a:xfrm>
          <a:prstGeom prst="ellipse">
            <a:avLst/>
          </a:prstGeom>
          <a:solidFill>
            <a:srgbClr val="00FFA3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268980" y="1143000"/>
            <a:ext cx="548640" cy="54864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898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265176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patterns, gaps, risks, competitor angles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BF40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70916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6380" y="1051560"/>
            <a:ext cx="731520" cy="731520"/>
          </a:xfrm>
          <a:prstGeom prst="ellipse">
            <a:avLst/>
          </a:prstGeom>
          <a:solidFill>
            <a:srgbClr val="BF40FF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417820" y="1143000"/>
            <a:ext cx="548640" cy="548640"/>
          </a:xfrm>
          <a:prstGeom prst="ellipse">
            <a:avLst/>
          </a:prstGeom>
          <a:solidFill>
            <a:srgbClr val="BF40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178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✍️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80060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summaries, slides, or communications fast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12280" y="96012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F6B6B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0" y="1005840"/>
            <a:ext cx="1965960" cy="2194560"/>
          </a:xfrm>
          <a:prstGeom prst="roundRect">
            <a:avLst>
              <a:gd name="adj" fmla="val 465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5220" y="1051560"/>
            <a:ext cx="731520" cy="73152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66660" y="1143000"/>
            <a:ext cx="548640" cy="5486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6666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17830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6949440" y="23317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49440" y="2834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like a reviewer or coach to improve your work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383280"/>
            <a:ext cx="8321040" cy="1280160"/>
          </a:xfrm>
          <a:prstGeom prst="roundRect">
            <a:avLst>
              <a:gd name="adj" fmla="val 7143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USE CASES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008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Email subject lines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Presentation talking points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26480" y="38404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Objection handling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Different perspectives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383280" y="4206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Executive presence coaching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TALK TO AI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CRAFT Prompting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743200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scene — who you are, what you're working 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" y="2057400"/>
            <a:ext cx="0" cy="137160"/>
          </a:xfrm>
          <a:prstGeom prst="line">
            <a:avLst/>
          </a:prstGeom>
          <a:noFill/>
          <a:ln w="254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945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0FFA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AI who to be (e.g., "Act as an MSL email coach")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" y="2880360"/>
            <a:ext cx="0" cy="137160"/>
          </a:xfrm>
          <a:prstGeom prst="line">
            <a:avLst/>
          </a:prstGeom>
          <a:noFill/>
          <a:ln w="254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BF40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175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28016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00400" y="32004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exactly what you want AI to do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" y="3703320"/>
            <a:ext cx="0" cy="137160"/>
          </a:xfrm>
          <a:prstGeom prst="line">
            <a:avLst/>
          </a:prstGeom>
          <a:noFill/>
          <a:ln w="254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404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840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280160" y="39319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20040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output format (bullets, paragraphs, table)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5528" y="4526280"/>
            <a:ext cx="0" cy="137160"/>
          </a:xfrm>
          <a:prstGeom prst="line">
            <a:avLst/>
          </a:prstGeom>
          <a:noFill/>
          <a:ln w="254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6634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FFD93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663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280160" y="4754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200400" y="4846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communication style (professional, warm, direct)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28800" y="4572000"/>
            <a:ext cx="5486400" cy="457200"/>
          </a:xfrm>
          <a:prstGeom prst="roundRect">
            <a:avLst>
              <a:gd name="adj" fmla="val 20000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Better prompts = Better outputs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BF40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POWER OF PROMPTING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777240"/>
            <a:ext cx="2743200" cy="45720"/>
          </a:xfrm>
          <a:prstGeom prst="rect">
            <a:avLst/>
          </a:prstGeom>
          <a:solidFill>
            <a:srgbClr val="BF40FF"/>
          </a:solidFill>
          <a:ln w="12700">
            <a:solidFill>
              <a:srgbClr val="BF4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 PROMPT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508760"/>
            <a:ext cx="3566160" cy="640080"/>
          </a:xfrm>
          <a:prstGeom prst="roundRect">
            <a:avLst>
              <a:gd name="adj" fmla="val 7143"/>
            </a:avLst>
          </a:prstGeom>
          <a:solidFill>
            <a:srgbClr val="141833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me an email"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Missing: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Context, Role, Action specifics,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Format, Tone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 PROMPT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508760"/>
            <a:ext cx="3566160" cy="1188720"/>
          </a:xfrm>
          <a:prstGeom prst="roundRect">
            <a:avLst>
              <a:gd name="adj" fmla="val 3846"/>
            </a:avLst>
          </a:prstGeom>
          <a:solidFill>
            <a:srgbClr val="141833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16002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MSL writing to an oncologist interested in real-world data. Draft a follow-up email with 3 bullets on our latest trial results. Keep it professional and under 100 words."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Has: Context, Role, Action, Format, Tone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291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RESULT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475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Generic, unfocused email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needs heavy editing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931920" cy="914400"/>
          </a:xfrm>
          <a:prstGeom prst="roundRect">
            <a:avLst>
              <a:gd name="adj" fmla="val 10000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840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Targeted, relevant draft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quick review ✨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67EE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0" y="182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🔧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WORKSHOP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 per superpower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1737360"/>
            <a:ext cx="2743200" cy="45720"/>
          </a:xfrm>
          <a:prstGeom prst="rect">
            <a:avLst/>
          </a:prstGeom>
          <a:solidFill>
            <a:srgbClr val="00F5FF"/>
          </a:solidFill>
          <a:ln w="12700">
            <a:solidFill>
              <a:srgbClr val="00F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20240"/>
            <a:ext cx="7315200" cy="2011680"/>
          </a:xfrm>
          <a:prstGeom prst="roundRect">
            <a:avLst>
              <a:gd name="adj" fmla="val 4545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5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INSTRUCTIONS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188720" y="242316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of the example topics for this superpower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78892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45920" y="2788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running the prompts (good vs bad examples provided)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315468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45920" y="3154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and refine your output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3520440"/>
            <a:ext cx="320040" cy="320040"/>
          </a:xfrm>
          <a:prstGeom prst="ellipse">
            <a:avLst/>
          </a:prstGeom>
          <a:solidFill>
            <a:srgbClr val="00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what worked and what surprised you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411480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10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in small groups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individually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114800"/>
            <a:ext cx="347472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5 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4526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back with group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D4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IDEAS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0" y="365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When you need options, angles, or a fresh perspective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Subject Lines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email subjects"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5 subject line options for a follow-up email to an oncologist focused on real-world evidence. Make them short, specific, and open-worthy."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Talking Points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should I talk about?"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4 discussion angles for a KOL meeting about our Phase 3 data. Focus on what a cardiologist would find most valuable."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Responses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I respond to objections?"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"Generate 3 ways to address the objection that our trial population doesn't match their patient mix. Use data-driven responses."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 →  2. Open your AI tool  →  3. Try BAD then GOOD  →  4. Compare outputs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00FFA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00FFA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00FFA3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CONTENT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0" y="365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When you need to stress-test assumptions or stories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00FFA3"/>
          </a:solidFill>
          <a:ln w="12700">
            <a:solidFill>
              <a:srgbClr val="00FFA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"Is this email good?"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"Review this email and flag where it could be misunderstood, unclear, too long, or low-value for a busy endocrinologist. Suggest concise fixes."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Gaps Analysis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"Analyze this trial data"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"Identify 3 potential gaps or questions an HCP might raise about this trial summary. Consider patient population, endpoints, and follow-up period."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Angle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would a competitor say?"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00FFA3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"Play the role of a competitor MSL. What weaknesses would you highlight in this data presentation? What questions would challenge our positioning?"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one example  →  2. Paste your own content  →  3. Compare BAD vs GOOD prompts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00FFA3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BF40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BF40FF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BF40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CONTENT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0" y="365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When you need fast drafts or first drafts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BF40FF"/>
          </a:solidFill>
          <a:ln w="12700">
            <a:solidFill>
              <a:srgbClr val="BF4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Rewrite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"Make this email better"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BF40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"Rewrite this email to be skimmable: 3 bullets and a one-line ask. Keep it warm, simple, and professional. Under 75 words."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Summary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"Summarize this meeting"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BF40FF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 a meeting summary in this format: Key Insights (3 bullets), Action Items (numbered), Follow-up Date. Tone: professional, concise."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Content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"Write slides about our drug"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BF40FF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"Draft 3 slide titles and 3 bullets each for a presentation on efficacy data. Audience: community oncologists. Focus: practical clinical application."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Choose an example  →  2. Paste content to transform  →  3. See how format + constraints improve output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BF40FF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FF6B6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228600"/>
            <a:ext cx="640080" cy="6400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82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502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FEEDBACK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0" y="365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When you need a quick, actionable critique or coaching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960120"/>
            <a:ext cx="8412480" cy="457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feedback on this"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my MSL email communication coach. Give me 3 specific improvements that would increase reply likelihood — tone, clarity, or relevance — and explain why."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4612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Coach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3756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can I improve this?"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33756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3756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"Act as an executive presentation coach. Review these talking points for a KOL meeting. Rate clarity (1-5) and suggest how to sound more confident and data-driven."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126480" y="109728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117043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17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Presence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1691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BAD: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1874520"/>
            <a:ext cx="2560320" cy="365760"/>
          </a:xfrm>
          <a:prstGeom prst="roundRect">
            <a:avLst>
              <a:gd name="adj" fmla="val 7500"/>
            </a:avLst>
          </a:prstGeom>
          <a:solidFill>
            <a:srgbClr val="FF4757">
              <a:alpha val="1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901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this sound professional?"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17920" y="22860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GOOD: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2468880"/>
            <a:ext cx="2560320" cy="731520"/>
          </a:xfrm>
          <a:prstGeom prst="roundRect">
            <a:avLst>
              <a:gd name="adj" fmla="val 3750"/>
            </a:avLst>
          </a:prstGeom>
          <a:solidFill>
            <a:srgbClr val="FF6B6B">
              <a:alpha val="1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2496312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"Coach me on executive presence. Review this message and tell me where I sound uncertain, too wordy, or miss opportunities to demonstrate expertise."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429000"/>
            <a:ext cx="658368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TRY IT NOW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2920" y="3794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Choose a coaching scenario  →  2. Paste your content  →  3. Notice how role + criteria = actionable feedback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86600" y="342900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6B6B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361188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QR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6576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SLIDO: What else could you use this superpower for?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67EEA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0" y="1828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000000"/>
                </a:solidFill>
              </a:rPr>
              <a:t>🚀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&amp; REFLECTION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1371600"/>
            <a:ext cx="2743200" cy="4572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4572000" cy="2103120"/>
          </a:xfrm>
          <a:prstGeom prst="roundRect">
            <a:avLst>
              <a:gd name="adj" fmla="val 4348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SLIDO REFLECTION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surprised you the most?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superpower would you use tomorrow?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one thing you'll try differently?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15544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1A1F3D">
              <a:alpha val="70000"/>
            </a:srgbClr>
          </a:solidFill>
          <a:ln w="12700">
            <a:solidFill>
              <a:srgbClr val="FFD93D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9202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📱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539496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RESPOND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30175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QR Code]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94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KEY TAKEAWAYS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73152" cy="2743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prompts = Better outputs (use CRAFT)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62272"/>
            <a:ext cx="73152" cy="274320"/>
          </a:xfrm>
          <a:prstGeom prst="rect">
            <a:avLst/>
          </a:prstGeom>
          <a:solidFill>
            <a:srgbClr val="00FFA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thinking partner, not a replacement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09744"/>
            <a:ext cx="73152" cy="274320"/>
          </a:xfrm>
          <a:prstGeom prst="rect">
            <a:avLst/>
          </a:prstGeom>
          <a:solidFill>
            <a:srgbClr val="BF4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809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everything — the more you give, the better you get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157216"/>
            <a:ext cx="73152" cy="2743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1572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builds intuition — keep experimenting!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6400800" cy="6400800"/>
          </a:xfrm>
          <a:prstGeom prst="ellipse">
            <a:avLst/>
          </a:prstGeom>
          <a:solidFill>
            <a:srgbClr val="667EEA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457200"/>
            <a:ext cx="5486400" cy="5486400"/>
          </a:xfrm>
          <a:prstGeom prst="ellipse">
            <a:avLst/>
          </a:prstGeom>
          <a:solidFill>
            <a:srgbClr val="00F5FF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practicing the 4 AI Superpowers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00D4FF">
              <a:alpha val="80000"/>
            </a:srgbClr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IDEAS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00FFA3">
              <a:alpha val="80000"/>
            </a:srgbClr>
          </a:solidFill>
          <a:ln w="25400">
            <a:solidFill>
              <a:srgbClr val="00F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ANALYZE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BF40FF">
              <a:alpha val="80000"/>
            </a:srgbClr>
          </a:solidFill>
          <a:ln w="25400">
            <a:solidFill>
              <a:srgbClr val="BF4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4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2743200"/>
            <a:ext cx="1371600" cy="731520"/>
          </a:xfrm>
          <a:prstGeom prst="roundRect">
            <a:avLst>
              <a:gd name="adj" fmla="val 12500"/>
            </a:avLst>
          </a:prstGeom>
          <a:solidFill>
            <a:srgbClr val="FF6B6B">
              <a:alpha val="80000"/>
            </a:srgbClr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7432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FEEDBACK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F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MSL Mastery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Reach out to your workshop facilitator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MSL Mastery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4 AI Superpowers Workshop</dc:title>
  <dc:subject>Medical Affairs AI Training</dc:subject>
  <dc:creator>MSL Mastery</dc:creator>
  <cp:lastModifiedBy>MSL Mastery</cp:lastModifiedBy>
  <cp:revision>1</cp:revision>
  <dcterms:created xsi:type="dcterms:W3CDTF">2026-01-19T04:31:20Z</dcterms:created>
  <dcterms:modified xsi:type="dcterms:W3CDTF">2026-01-19T04:31:20Z</dcterms:modified>
</cp:coreProperties>
</file>