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4C23B9-7D2D-FF0E-2BC6-8302B10A8CEF}" v="28" dt="2026-01-19T23:07:00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CE4C23B9-7D2D-FF0E-2BC6-8302B10A8CEF}"/>
    <pc:docChg chg="modSld">
      <pc:chgData name="Guest User" userId="" providerId="Windows Live" clId="Web-{CE4C23B9-7D2D-FF0E-2BC6-8302B10A8CEF}" dt="2026-01-19T23:07:00.915" v="21" actId="14100"/>
      <pc:docMkLst>
        <pc:docMk/>
      </pc:docMkLst>
      <pc:sldChg chg="modSp">
        <pc:chgData name="Guest User" userId="" providerId="Windows Live" clId="Web-{CE4C23B9-7D2D-FF0E-2BC6-8302B10A8CEF}" dt="2026-01-19T23:05:51.226" v="2" actId="20577"/>
        <pc:sldMkLst>
          <pc:docMk/>
          <pc:sldMk cId="0" sldId="256"/>
        </pc:sldMkLst>
        <pc:spChg chg="mod">
          <ac:chgData name="Guest User" userId="" providerId="Windows Live" clId="Web-{CE4C23B9-7D2D-FF0E-2BC6-8302B10A8CEF}" dt="2026-01-19T23:05:51.226" v="2" actId="20577"/>
          <ac:spMkLst>
            <pc:docMk/>
            <pc:sldMk cId="0" sldId="256"/>
            <ac:spMk id="14" creationId="{00000000-0000-0000-0000-000000000000}"/>
          </ac:spMkLst>
        </pc:spChg>
      </pc:sldChg>
      <pc:sldChg chg="modSp">
        <pc:chgData name="Guest User" userId="" providerId="Windows Live" clId="Web-{CE4C23B9-7D2D-FF0E-2BC6-8302B10A8CEF}" dt="2026-01-19T23:06:49.227" v="20" actId="20577"/>
        <pc:sldMkLst>
          <pc:docMk/>
          <pc:sldMk cId="0" sldId="257"/>
        </pc:sldMkLst>
        <pc:spChg chg="mod">
          <ac:chgData name="Guest User" userId="" providerId="Windows Live" clId="Web-{CE4C23B9-7D2D-FF0E-2BC6-8302B10A8CEF}" dt="2026-01-19T23:06:17.711" v="12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Guest User" userId="" providerId="Windows Live" clId="Web-{CE4C23B9-7D2D-FF0E-2BC6-8302B10A8CEF}" dt="2026-01-19T23:06:45.696" v="17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" providerId="Windows Live" clId="Web-{CE4C23B9-7D2D-FF0E-2BC6-8302B10A8CEF}" dt="2026-01-19T23:06:39.899" v="1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" providerId="Windows Live" clId="Web-{CE4C23B9-7D2D-FF0E-2BC6-8302B10A8CEF}" dt="2026-01-19T23:06:47.977" v="18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Guest User" userId="" providerId="Windows Live" clId="Web-{CE4C23B9-7D2D-FF0E-2BC6-8302B10A8CEF}" dt="2026-01-19T23:06:49.227" v="20" actId="20577"/>
          <ac:spMkLst>
            <pc:docMk/>
            <pc:sldMk cId="0" sldId="257"/>
            <ac:spMk id="32" creationId="{00000000-0000-0000-0000-000000000000}"/>
          </ac:spMkLst>
        </pc:spChg>
      </pc:sldChg>
      <pc:sldChg chg="modSp">
        <pc:chgData name="Guest User" userId="" providerId="Windows Live" clId="Web-{CE4C23B9-7D2D-FF0E-2BC6-8302B10A8CEF}" dt="2026-01-19T23:07:00.915" v="21" actId="14100"/>
        <pc:sldMkLst>
          <pc:docMk/>
          <pc:sldMk cId="0" sldId="258"/>
        </pc:sldMkLst>
        <pc:spChg chg="mod">
          <ac:chgData name="Guest User" userId="" providerId="Windows Live" clId="Web-{CE4C23B9-7D2D-FF0E-2BC6-8302B10A8CEF}" dt="2026-01-19T23:07:00.915" v="21" actId="14100"/>
          <ac:spMkLst>
            <pc:docMk/>
            <pc:sldMk cId="0" sldId="258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3EEAD-A875-40C0-995A-1210F6271A95}" type="datetimeFigureOut"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AE7D7-CC01-4716-A9E4-5A73B64667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8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F5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4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1828800"/>
            <a:ext cx="45720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F5FF"/>
                </a:solidFill>
                <a:latin typeface="Arial"/>
                <a:ea typeface="Arial" pitchFamily="34" charset="-122"/>
                <a:cs typeface="Arial"/>
              </a:rPr>
              <a:t>SUPERPOWERS</a:t>
            </a:r>
            <a:endParaRPr lang="en-US" sz="4000">
              <a:latin typeface="Arial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743200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Affairs AI 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 Mastery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7315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822960"/>
            <a:ext cx="640080" cy="64008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89320" y="91440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7315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822960"/>
            <a:ext cx="640080" cy="640080"/>
          </a:xfrm>
          <a:prstGeom prst="ellipse">
            <a:avLst/>
          </a:prstGeom>
          <a:solidFill>
            <a:srgbClr val="00FFA3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0" y="914400"/>
            <a:ext cx="457200" cy="45720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94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6948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03520" y="23317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423160"/>
            <a:ext cx="640080" cy="640080"/>
          </a:xfrm>
          <a:prstGeom prst="ellipse">
            <a:avLst/>
          </a:prstGeom>
          <a:solidFill>
            <a:srgbClr val="BF40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89320" y="2514600"/>
            <a:ext cx="457200" cy="457200"/>
          </a:xfrm>
          <a:prstGeom prst="ellipse">
            <a:avLst/>
          </a:prstGeom>
          <a:solidFill>
            <a:srgbClr val="BF40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69480" y="23317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2423160"/>
            <a:ext cx="640080" cy="640080"/>
          </a:xfrm>
          <a:prstGeom prst="ellipse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0" y="2514600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694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694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 BY TESTING THE LIMITS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Journey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 dirty="0">
                <a:solidFill>
                  <a:srgbClr val="00F5FF"/>
                </a:solidFill>
                <a:latin typeface="Arial"/>
                <a:cs typeface="Arial"/>
              </a:rPr>
              <a:t>How To Speak To AI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5448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Icebreaker: AI in 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something amazing while we set context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42316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00F5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23160"/>
            <a:ext cx="8229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Arial"/>
                <a:cs typeface="Arial"/>
              </a:rPr>
              <a:t>5min</a:t>
            </a:r>
            <a:endParaRPr lang="en-US" sz="1100" dirty="0">
              <a:latin typeface="Arial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544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CRAFT Framework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679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recipe for talking to AI effectively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29184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91840"/>
            <a:ext cx="8229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rgbClr val="0A0E27"/>
                </a:solidFill>
                <a:latin typeface="Arial"/>
                <a:cs typeface="Arial"/>
              </a:rPr>
              <a:t>60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AI Superpowers (Hands-On)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Practice, share, and build confidence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6052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00F5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605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Book &amp; Next Steps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54480" y="4416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your prompts with you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137160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1A2744"/>
          </a:solidFill>
          <a:ln w="12700">
            <a:solidFill>
              <a:srgbClr val="4D9FFF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1371600"/>
            <a:ext cx="3017520" cy="45720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FORMAT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Superpower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6ED"/>
                </a:solidFill>
                <a:latin typeface="Arial"/>
                <a:ea typeface="Arial" pitchFamily="34" charset="-122"/>
                <a:cs typeface="Arial"/>
              </a:rPr>
              <a:t>• 10 min hands-on practice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min summary + Slido question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E0E6ED"/>
                </a:solidFill>
                <a:latin typeface="Arial"/>
                <a:ea typeface="Arial" pitchFamily="34" charset="-122"/>
                <a:cs typeface="Arial"/>
              </a:rPr>
              <a:t>• 4 min share back with group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43600" y="3566160"/>
            <a:ext cx="256032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individually or in small groups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F5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0F5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ICEBREAKER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Something Cool in AI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2651760"/>
            <a:ext cx="6400800" cy="2201091"/>
          </a:xfrm>
          <a:prstGeom prst="roundRect">
            <a:avLst>
              <a:gd name="adj" fmla="val 5556"/>
            </a:avLst>
          </a:prstGeom>
          <a:solidFill>
            <a:srgbClr val="1A2744"/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LIVE DEMO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 infographic from a research paper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566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it generates, we'll explore: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What AI can and can't 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Building AI intuition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The importance of context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OUTCOMES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you will: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BF40FF"/>
          </a:solidFill>
          <a:ln w="12700">
            <a:solidFill>
              <a:srgbClr val="BF4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2744"/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how to talk to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CRAFT prompting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when to reach for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4 AI Superpowers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💪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 real Medical Affairs scenarios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41732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1208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expectations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AI can and can't 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42316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2744"/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1208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intuition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iterate and improve outputs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4290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21208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context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886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AI what it needs to succeed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F5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 CHECK-IN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here uses AI weekly?"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to Sarah's poll on AI usage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still feels unsure if they're doing it 'right'?"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your coolest use case?"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118872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6459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📱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603504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JOIN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4 SUPERPOWERS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777240"/>
            <a:ext cx="2743200" cy="4572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05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A2744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" y="1051560"/>
            <a:ext cx="731520" cy="73152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" y="114300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01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Brainstorm, expand options, reframe problems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960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00FFA3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005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7540" y="1051560"/>
            <a:ext cx="731520" cy="731520"/>
          </a:xfrm>
          <a:prstGeom prst="ellipse">
            <a:avLst/>
          </a:prstGeom>
          <a:solidFill>
            <a:srgbClr val="00FFA3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68980" y="1143000"/>
            <a:ext cx="548640" cy="54864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898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65176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patterns, gaps, risks, competitor angles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BF40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1005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6380" y="1051560"/>
            <a:ext cx="731520" cy="731520"/>
          </a:xfrm>
          <a:prstGeom prst="ellipse">
            <a:avLst/>
          </a:prstGeom>
          <a:solidFill>
            <a:srgbClr val="BF40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17820" y="1143000"/>
            <a:ext cx="548640" cy="548640"/>
          </a:xfrm>
          <a:prstGeom prst="ellipse">
            <a:avLst/>
          </a:prstGeom>
          <a:solidFill>
            <a:srgbClr val="BF40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78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✍️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80060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summaries, slides, or communications fast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12280" y="960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F6B6B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1005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5220" y="1051560"/>
            <a:ext cx="731520" cy="731520"/>
          </a:xfrm>
          <a:prstGeom prst="ellipse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566660" y="1143000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666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94944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like a reviewer or coach to improve your work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383280"/>
            <a:ext cx="8321040" cy="1280160"/>
          </a:xfrm>
          <a:prstGeom prst="roundRect">
            <a:avLst>
              <a:gd name="adj" fmla="val 7143"/>
            </a:avLst>
          </a:prstGeom>
          <a:solidFill>
            <a:srgbClr val="1A2744"/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USE CASES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Email subject lines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Presentation talking points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2648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Objection handling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Different perspectives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8328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Executive presence coaching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PROMPTING RECIPE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CRAFT Framework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6FB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1E6FB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backstory. Give AI the information it needs to help you.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an MSL preparing for a KOL meeting..."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8A8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148840" y="137160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2B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24028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028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AI who to be. Give it an expert identity to shape its perspective.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40280" y="329184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medical communication coach..."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A5A5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931920" y="137160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3AA5A5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02336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2336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what you want. Define clear parameters for the output.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329184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5 subject lines under 8 words..."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651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5715000" y="137160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D4651E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580644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0644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tell. Specify how you want the output structured.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06440" y="329184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bullet points, keep each under 20 words..."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4A1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7498080" y="1371600"/>
            <a:ext cx="1645920" cy="2560320"/>
          </a:xfrm>
          <a:prstGeom prst="roundRect">
            <a:avLst>
              <a:gd name="adj" fmla="val 5556"/>
            </a:avLst>
          </a:prstGeom>
          <a:solidFill>
            <a:srgbClr val="C94A1A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7589520" y="2011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8952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voice. Define the communication style you need.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89520" y="3291840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"Professional, warm, and confident..."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OF PROMPTING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777240"/>
            <a:ext cx="2743200" cy="45720"/>
          </a:xfrm>
          <a:prstGeom prst="rect">
            <a:avLst/>
          </a:prstGeom>
          <a:solidFill>
            <a:srgbClr val="BF40FF"/>
          </a:solidFill>
          <a:ln w="12700">
            <a:solidFill>
              <a:srgbClr val="BF4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PROMPT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566160" cy="640080"/>
          </a:xfrm>
          <a:prstGeom prst="roundRect">
            <a:avLst>
              <a:gd name="adj" fmla="val 7143"/>
            </a:avLst>
          </a:prstGeom>
          <a:solidFill>
            <a:srgbClr val="14183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me an email"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Missing: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Role, Action specifics,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Tone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PROMPT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508760"/>
            <a:ext cx="3566160" cy="1188720"/>
          </a:xfrm>
          <a:prstGeom prst="roundRect">
            <a:avLst>
              <a:gd name="adj" fmla="val 3846"/>
            </a:avLst>
          </a:prstGeom>
          <a:solidFill>
            <a:srgbClr val="141833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600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MSL writing to an oncologist interested in real-world data. Draft a follow-up email with 3 bullets on our latest trial results. Keep it professional and under 100 words."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Has: Context, Role, Action, Format, Tone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RESULT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Generic, unfocused email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needs heavy editing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Targeted, relevant draft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quick review ✨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F5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0" y="182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000000"/>
                </a:solidFill>
              </a:rPr>
              <a:t>🔧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WORKSHOP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per superpower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737360"/>
            <a:ext cx="2743200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7315200" cy="2011680"/>
          </a:xfrm>
          <a:prstGeom prst="roundRect">
            <a:avLst>
              <a:gd name="adj" fmla="val 4545"/>
            </a:avLst>
          </a:prstGeom>
          <a:solidFill>
            <a:srgbClr val="1A2744"/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INSTRUCTIONS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2423160"/>
            <a:ext cx="320040" cy="32004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of the example topics for this superpower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2788920"/>
            <a:ext cx="320040" cy="32004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788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running the prompts (good vs bad examples provided)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3154680"/>
            <a:ext cx="320040" cy="32004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refine your output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3520440"/>
            <a:ext cx="320040" cy="32004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what worked and what surprised you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11480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10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in small groups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individually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11480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5 min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back with group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D4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IDEAS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365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When you need options, angles, or a fresh perspective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Subject 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email subjects"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5 subject line options for a follow-up email to an oncologist focused on real-world evidence. Make them short, specific, and open-worthy."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Talking Points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talk about?"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4 discussion angles for a KOL meeting about our Phase 3 data. Focus on what a cardiologist would find most valuable."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Responses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I respond to objections?"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3 ways to address the objection that our trial population doesn't match their patient mix. Use data-driven responses."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429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TRY IT 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example  →  2. Open your AI tool  →  3. Try BAD then GOOD  →  4. Compare outputs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42900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FFA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00FFA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CONTENT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365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When you need to stress-test assumptions or stories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email good?"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email and flag where it could be misunderstood, unclear, too long, or low-value for a busy endocrinologist. Suggest concise fixes."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Gaps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trial data"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"Identify 3 potential gaps or questions an HCP might raise about this trial summary. Consider patient population, endpoints, and follow-up period."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Angle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would a competitor say?"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"Play the role of a competitor MSL. What weaknesses would you highlight in this data presentation? What questions would challenge our positioning?"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429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TRY IT 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example  →  2. Open your AI tool  →  3. Try BAD then GOOD  →  4. Compare outputs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42900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BF4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BF40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BF40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365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When you need fast drafts or first drafts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BF40FF"/>
          </a:solidFill>
          <a:ln w="12700">
            <a:solidFill>
              <a:srgbClr val="BF4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Rewrite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this email better"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BF40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"Rewrite this email to be skimmable: 3 bullets and a one-line ask. Keep it warm, simple, and professional. Under 75 words."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this meeting"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BF40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meeting summary in this format: Key Insights (3 bullets), Action Items (numbered), Follow-up Date. Tone: professional, concise."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Content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slides about our drug"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BF40FF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3 slide titles and 3 bullets each for a presentation on efficacy data. Audience: community oncologists. Focus: practical clinical application."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429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TRY IT 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example  →  2. Open your AI tool  →  3. Try BAD then GOOD  →  4. Compare outputs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42900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FEEDBACK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365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When you need a quick, actionable critique or coaching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feedback on this"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my MSL email communication coach. Give me 3 specific improvements that would increase reply likelihood — tone, clarity, or relevance — and explain why."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Coach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can I improve this?"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executive presentation coach. Review these talking points for a KOL meeting. Rate clarity (1-5) and suggest how to sound more confident and data-driven."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Presence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this sound professional?"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"Coach me on executive presence. Review this message and tell me where I sound uncertain, too wordy, or miss opportunities to demonstrate expertise."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429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TRY IT 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example  →  2. Open your AI tool  →  3. Try BAD then GOOD  →  4. Compare outputs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42900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2744"/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F5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0" y="182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0" dirty="0">
                <a:solidFill>
                  <a:srgbClr val="000000"/>
                </a:solidFill>
              </a:rPr>
              <a:t>🚀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&amp; REFLECTION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4572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457200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 REFLECTION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 the most?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superpower would you use tomorrow?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thing you'll try differently?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1554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39496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RESPOND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KEY TAKEAWAYS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73152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prompts = Better outputs (use CRAFT)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62272"/>
            <a:ext cx="73152" cy="27432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thinking partner, not a replacement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09744"/>
            <a:ext cx="73152" cy="274320"/>
          </a:xfrm>
          <a:prstGeom prst="rect">
            <a:avLst/>
          </a:prstGeom>
          <a:solidFill>
            <a:srgbClr val="BF40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09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everything — the more you give, the better you get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157216"/>
            <a:ext cx="73152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1572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builds intuition — keep experimenting!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F5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457200"/>
            <a:ext cx="5486400" cy="54864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practicing AI's 4 Superpowers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00D4FF">
              <a:alpha val="8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IDEAS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00FFA3">
              <a:alpha val="80000"/>
            </a:srgbClr>
          </a:solidFill>
          <a:ln w="254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ANALYZE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743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BF40FF">
              <a:alpha val="80000"/>
            </a:srgbClr>
          </a:solidFill>
          <a:ln w="25400">
            <a:solidFill>
              <a:srgbClr val="BF4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2743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FEEDBACK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 Mastery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Reach out to your workshop facilitator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MSL Mastery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AI's 4 Superpowers Workshop</dc:title>
  <dc:subject>Medical Affairs AI Training</dc:subject>
  <dc:creator>MSL Mastery</dc:creator>
  <cp:lastModifiedBy>MSL Mastery</cp:lastModifiedBy>
  <cp:revision>10</cp:revision>
  <dcterms:created xsi:type="dcterms:W3CDTF">2026-01-19T04:56:24Z</dcterms:created>
  <dcterms:modified xsi:type="dcterms:W3CDTF">2026-01-19T23:07:02Z</dcterms:modified>
</cp:coreProperties>
</file>